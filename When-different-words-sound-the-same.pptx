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embeddedFontLst>
    <p:embeddedFont>
      <p:font typeface="Nunito Medium"/>
      <p:regular r:id="rId201314"/>
    </p:embeddedFont>
    <p:embeddedFont>
      <p:font typeface="Nunito SemiBold"/>
      <p:regular r:id="rId201315"/>
    </p:embeddedFont>
    <p:embeddedFont>
      <p:font typeface="Nunito Bold"/>
      <p:regular r:id="rId201316"/>
    </p:embeddedFont>
    <p:embeddedFont>
      <p:font typeface="Nunito Extra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DFF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28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DFF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383" y="1193800"/>
            <a:ext cx="7111822" cy="4676180"/>
          </a:xfrm>
          <a:prstGeom prst="roundRect">
            <a:avLst>
              <a:gd name="adj" fmla="val 815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142971" y="1625600"/>
            <a:ext cx="6756231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03D36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LANGUAGE · LISTENING · MEANING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42971" y="1964035"/>
            <a:ext cx="6146646" cy="2139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5400" spc="-108" kern="100" dirty="0">
                <a:solidFill>
                  <a:srgbClr val="17332E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When different</a:t>
            </a:r>
            <a:endParaRPr lang="en-US" sz="5400" dirty="0"/>
          </a:p>
          <a:p>
            <a:pPr algn="l" indent="0" marL="0">
              <a:lnSpc>
                <a:spcPct val="87000"/>
              </a:lnSpc>
              <a:buNone/>
            </a:pPr>
            <a:r>
              <a:rPr lang="en-US" sz="5400" spc="-108" kern="100" dirty="0">
                <a:solidFill>
                  <a:srgbClr val="17332E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words sound the same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142971" y="4300438"/>
            <a:ext cx="6146646" cy="11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dirty="0">
                <a:solidFill>
                  <a:srgbClr val="17332E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Clear spelling and meaning prevent small sound differences from becoming big misunderstandings.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734506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7332E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THE FIRST CLUE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457189" y="795635"/>
            <a:ext cx="11277318" cy="493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spc="-54" kern="100" dirty="0">
                <a:solidFill>
                  <a:srgbClr val="103D36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Sound alone is not enough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189" y="1486198"/>
            <a:ext cx="3555911" cy="3934222"/>
          </a:xfrm>
          <a:prstGeom prst="roundRect">
            <a:avLst>
              <a:gd name="adj" fmla="val 5143"/>
            </a:avLst>
          </a:prstGeom>
          <a:solidFill>
            <a:srgbClr val="DBECF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582" y="1740198"/>
            <a:ext cx="507987" cy="508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6582" y="2362498"/>
            <a:ext cx="2997125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000000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English contains homophones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736582" y="3362623"/>
            <a:ext cx="299712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Different words with the same pronunciation but different meanings.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317892" y="1486198"/>
            <a:ext cx="3555911" cy="3934222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7285" y="1740198"/>
            <a:ext cx="507987" cy="508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97285" y="2362498"/>
            <a:ext cx="2997125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17332E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Look for more clues</a:t>
            </a:r>
            <a:endParaRPr lang="en-US" sz="2700" dirty="0"/>
          </a:p>
        </p:txBody>
      </p:sp>
      <p:sp>
        <p:nvSpPr>
          <p:cNvPr id="11" name="Text 7"/>
          <p:cNvSpPr/>
          <p:nvPr/>
        </p:nvSpPr>
        <p:spPr>
          <a:xfrm>
            <a:off x="4597285" y="3362623"/>
            <a:ext cx="2997125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17332E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Context, spelling, and sentence structure tell us which meaning is intended.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8178595" y="1486198"/>
            <a:ext cx="3555911" cy="3934222"/>
          </a:xfrm>
          <a:prstGeom prst="roundRect">
            <a:avLst>
              <a:gd name="adj" fmla="val 5143"/>
            </a:avLst>
          </a:prstGeom>
          <a:solidFill>
            <a:srgbClr val="FBEDCD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7988" y="1740198"/>
            <a:ext cx="507987" cy="5080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457988" y="2362498"/>
            <a:ext cx="2997125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000000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Listening can mislead</a:t>
            </a:r>
            <a:endParaRPr lang="en-US" sz="2700" dirty="0"/>
          </a:p>
        </p:txBody>
      </p:sp>
      <p:sp>
        <p:nvSpPr>
          <p:cNvPr id="15" name="Text 10"/>
          <p:cNvSpPr/>
          <p:nvPr/>
        </p:nvSpPr>
        <p:spPr>
          <a:xfrm>
            <a:off x="8457988" y="3362623"/>
            <a:ext cx="2997125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Without those clues, a message can be heard correctly but understood incorrectly.</a:t>
            </a:r>
            <a:endParaRPr lang="en-US" sz="2000" dirty="0"/>
          </a:p>
        </p:txBody>
      </p:sp>
      <p:sp>
        <p:nvSpPr>
          <p:cNvPr id="16" name="Shape 11"/>
          <p:cNvSpPr/>
          <p:nvPr/>
        </p:nvSpPr>
        <p:spPr>
          <a:xfrm>
            <a:off x="457189" y="5598220"/>
            <a:ext cx="11277318" cy="802580"/>
          </a:xfrm>
          <a:prstGeom prst="roundRect">
            <a:avLst>
              <a:gd name="adj" fmla="val 22786"/>
            </a:avLst>
          </a:prstGeom>
          <a:solidFill>
            <a:srgbClr val="3B6CA1"/>
          </a:solidFill>
          <a:ln/>
        </p:spPr>
      </p:sp>
      <p:sp>
        <p:nvSpPr>
          <p:cNvPr id="17" name="Text 12"/>
          <p:cNvSpPr/>
          <p:nvPr/>
        </p:nvSpPr>
        <p:spPr>
          <a:xfrm>
            <a:off x="736582" y="5801420"/>
            <a:ext cx="10997925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Hear the sound. Then check the meaning.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734506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7332E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EXAMPLES TO SORT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457189" y="795635"/>
            <a:ext cx="11277318" cy="493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spc="-54" kern="100" dirty="0">
                <a:solidFill>
                  <a:srgbClr val="103D36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One sound, several possible meanings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189" y="1486198"/>
            <a:ext cx="3682908" cy="2407543"/>
          </a:xfrm>
          <a:prstGeom prst="roundRect">
            <a:avLst>
              <a:gd name="adj" fmla="val 7596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60383" y="1651298"/>
            <a:ext cx="3479713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7332E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Money · true homophones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60383" y="2035473"/>
            <a:ext cx="3276518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17332E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check / cheque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60383" y="2606973"/>
            <a:ext cx="3276518" cy="462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7332E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Two spellings, one sound, different meanings.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2493" y="1486198"/>
            <a:ext cx="3606710" cy="2407543"/>
          </a:xfrm>
          <a:prstGeom prst="roundRect">
            <a:avLst>
              <a:gd name="adj" fmla="val 7596"/>
            </a:avLst>
          </a:prstGeom>
          <a:solidFill>
            <a:srgbClr val="FBEDCD"/>
          </a:solidFill>
          <a:ln/>
        </p:spPr>
      </p:sp>
      <p:sp>
        <p:nvSpPr>
          <p:cNvPr id="9" name="Text 7"/>
          <p:cNvSpPr/>
          <p:nvPr/>
        </p:nvSpPr>
        <p:spPr>
          <a:xfrm>
            <a:off x="4495688" y="1651298"/>
            <a:ext cx="3403515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Color and action · true homophones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95688" y="2035473"/>
            <a:ext cx="320032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000000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red / read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4495688" y="2606973"/>
            <a:ext cx="3403515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Color and action.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51599" y="1486198"/>
            <a:ext cx="3682908" cy="2407543"/>
          </a:xfrm>
          <a:prstGeom prst="roundRect">
            <a:avLst>
              <a:gd name="adj" fmla="val 7596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8254793" y="1651298"/>
            <a:ext cx="3479713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7332E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Listening · true homophones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54793" y="2035473"/>
            <a:ext cx="3276518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17332E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herd / heard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8254793" y="2606973"/>
            <a:ext cx="3276518" cy="462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7332E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A group of animals and the act of listening.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189" y="4046041"/>
            <a:ext cx="3682908" cy="2407741"/>
          </a:xfrm>
          <a:prstGeom prst="roundRect">
            <a:avLst>
              <a:gd name="adj" fmla="val 7595"/>
            </a:avLst>
          </a:prstGeom>
          <a:solidFill>
            <a:srgbClr val="DBECFD"/>
          </a:solidFill>
          <a:ln/>
        </p:spPr>
      </p:sp>
      <p:sp>
        <p:nvSpPr>
          <p:cNvPr id="17" name="Text 15"/>
          <p:cNvSpPr/>
          <p:nvPr/>
        </p:nvSpPr>
        <p:spPr>
          <a:xfrm>
            <a:off x="660383" y="4211141"/>
            <a:ext cx="3479713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Materials and places · near-sounding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0383" y="4595316"/>
            <a:ext cx="3276518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000000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foam / “fome” · dam / damn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660383" y="5595441"/>
            <a:ext cx="3276518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A material and a place, alongside a nonstandard spelling and a near-sounding pair.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292493" y="4046041"/>
            <a:ext cx="3606710" cy="2407741"/>
          </a:xfrm>
          <a:prstGeom prst="roundRect">
            <a:avLst>
              <a:gd name="adj" fmla="val 7595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4495688" y="4211141"/>
            <a:ext cx="3403515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7332E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Food and farming · true homophones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495688" y="4595316"/>
            <a:ext cx="320032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17332E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bred / bread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4495688" y="5166816"/>
            <a:ext cx="3403515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7332E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A farming word and a food word.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051599" y="4046041"/>
            <a:ext cx="3682908" cy="2407741"/>
          </a:xfrm>
          <a:prstGeom prst="roundRect">
            <a:avLst>
              <a:gd name="adj" fmla="val 7595"/>
            </a:avLst>
          </a:prstGeom>
          <a:solidFill>
            <a:srgbClr val="FBEDCD"/>
          </a:solidFill>
          <a:ln/>
        </p:spPr>
      </p:sp>
      <p:sp>
        <p:nvSpPr>
          <p:cNvPr id="25" name="Text 23"/>
          <p:cNvSpPr/>
          <p:nvPr/>
        </p:nvSpPr>
        <p:spPr>
          <a:xfrm>
            <a:off x="8254793" y="4211141"/>
            <a:ext cx="3479713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Body, time, and identity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54793" y="4595316"/>
            <a:ext cx="3276518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000000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ear / year · phase / face · sex / sex</a:t>
            </a:r>
            <a:endParaRPr lang="en-US" sz="2700" dirty="0"/>
          </a:p>
        </p:txBody>
      </p:sp>
      <p:sp>
        <p:nvSpPr>
          <p:cNvPr id="27" name="Text 25"/>
          <p:cNvSpPr/>
          <p:nvPr/>
        </p:nvSpPr>
        <p:spPr>
          <a:xfrm>
            <a:off x="8254793" y="5595441"/>
            <a:ext cx="3276518" cy="462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Some are near-sounding; some share spelling but differ in meaning.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189" y="6606084"/>
            <a:ext cx="11277318" cy="2407543"/>
          </a:xfrm>
          <a:prstGeom prst="roundRect">
            <a:avLst>
              <a:gd name="adj" fmla="val 7596"/>
            </a:avLst>
          </a:prstGeom>
          <a:solidFill>
            <a:srgbClr val="D1E3DE"/>
          </a:solidFill>
          <a:ln/>
        </p:spPr>
      </p:sp>
      <p:sp>
        <p:nvSpPr>
          <p:cNvPr id="29" name="Text 27"/>
          <p:cNvSpPr/>
          <p:nvPr/>
        </p:nvSpPr>
        <p:spPr>
          <a:xfrm>
            <a:off x="685783" y="6771184"/>
            <a:ext cx="11048724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Same spelling, different meaning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85783" y="7155359"/>
            <a:ext cx="10820129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000000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ram / ram · chip / chip · bite / bit</a:t>
            </a:r>
            <a:endParaRPr lang="en-US" sz="2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6858000"/>
          </a:xfrm>
          <a:prstGeom prst="rect">
            <a:avLst/>
          </a:prstGeom>
          <a:solidFill>
            <a:srgbClr val="103D36"/>
          </a:solidFill>
          <a:ln/>
        </p:spPr>
      </p:sp>
      <p:sp>
        <p:nvSpPr>
          <p:cNvPr id="3" name="Text 1"/>
          <p:cNvSpPr/>
          <p:nvPr/>
        </p:nvSpPr>
        <p:spPr>
          <a:xfrm>
            <a:off x="482588" y="533400"/>
            <a:ext cx="3581310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THE LISTENER'S CHECK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82588" y="871835"/>
            <a:ext cx="3200320" cy="2430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4600" spc="-92" kern="100" dirty="0">
                <a:solidFill>
                  <a:srgbClr val="FFFFFF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Choose meaning,</a:t>
            </a:r>
            <a:endParaRPr lang="en-US" sz="4600" dirty="0"/>
          </a:p>
          <a:p>
            <a:pPr algn="l" indent="0" marL="0">
              <a:lnSpc>
                <a:spcPct val="87000"/>
              </a:lnSpc>
              <a:buNone/>
            </a:pPr>
            <a:r>
              <a:rPr lang="en-US" sz="4600" spc="-92" kern="100" dirty="0">
                <a:solidFill>
                  <a:srgbClr val="FFFFFF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not just sound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482588" y="5186859"/>
            <a:ext cx="3200320" cy="11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Different words exist because different ideas need different labels.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495688" y="431800"/>
            <a:ext cx="2192779" cy="6045200"/>
          </a:xfrm>
          <a:prstGeom prst="roundRect">
            <a:avLst>
              <a:gd name="adj" fmla="val 834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4749681" y="660400"/>
            <a:ext cx="914377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1733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749681" y="1016000"/>
            <a:ext cx="1684692" cy="19050"/>
          </a:xfrm>
          <a:prstGeom prst="rect">
            <a:avLst/>
          </a:prstGeom>
          <a:solidFill>
            <a:srgbClr val="3B6CA1"/>
          </a:solidFill>
          <a:ln/>
        </p:spPr>
      </p:sp>
      <p:sp>
        <p:nvSpPr>
          <p:cNvPr id="9" name="Text 7"/>
          <p:cNvSpPr/>
          <p:nvPr/>
        </p:nvSpPr>
        <p:spPr>
          <a:xfrm>
            <a:off x="4749681" y="1187450"/>
            <a:ext cx="1684791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17332E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Use the surrounding sentence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4749681" y="3044825"/>
            <a:ext cx="1684791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17332E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Make the meaning clear.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993259" y="431800"/>
            <a:ext cx="2192779" cy="6045200"/>
          </a:xfrm>
          <a:prstGeom prst="roundRect">
            <a:avLst>
              <a:gd name="adj" fmla="val 8340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7247252" y="660400"/>
            <a:ext cx="914377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1733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247252" y="1016000"/>
            <a:ext cx="1684692" cy="19050"/>
          </a:xfrm>
          <a:prstGeom prst="rect">
            <a:avLst/>
          </a:prstGeom>
          <a:solidFill>
            <a:srgbClr val="3B6CA1"/>
          </a:solidFill>
          <a:ln/>
        </p:spPr>
      </p:sp>
      <p:sp>
        <p:nvSpPr>
          <p:cNvPr id="14" name="Text 12"/>
          <p:cNvSpPr/>
          <p:nvPr/>
        </p:nvSpPr>
        <p:spPr>
          <a:xfrm>
            <a:off x="7247252" y="1187450"/>
            <a:ext cx="1684791" cy="1285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17332E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Spell important words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7247252" y="2616200"/>
            <a:ext cx="1684791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17332E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Especially names, amounts, and instructions.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490830" y="431800"/>
            <a:ext cx="2192878" cy="6045200"/>
          </a:xfrm>
          <a:prstGeom prst="roundRect">
            <a:avLst>
              <a:gd name="adj" fmla="val 8340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9744823" y="660400"/>
            <a:ext cx="914377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1733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9744823" y="1016000"/>
            <a:ext cx="1684891" cy="19050"/>
          </a:xfrm>
          <a:prstGeom prst="rect">
            <a:avLst/>
          </a:prstGeom>
          <a:solidFill>
            <a:srgbClr val="3B6CA1"/>
          </a:solidFill>
          <a:ln/>
        </p:spPr>
      </p:sp>
      <p:sp>
        <p:nvSpPr>
          <p:cNvPr id="19" name="Text 17"/>
          <p:cNvSpPr/>
          <p:nvPr/>
        </p:nvSpPr>
        <p:spPr>
          <a:xfrm>
            <a:off x="9744823" y="1187450"/>
            <a:ext cx="1684891" cy="1285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17332E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Ask for clarification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9744823" y="2616200"/>
            <a:ext cx="1684891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17332E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When two meanings are possible.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2026-10-05T06:56:28Z</dcterms:created>
  <dcterms:modified xsi:type="dcterms:W3CDTF">2026-10-05T06:56:28Z</dcterms:modified>
</cp:coreProperties>
</file>